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5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896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Begrüßung. Teil 1 &amp; 2 wurden live demonstriert. Jetzt Fachgespräch zu Teil 3 und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Kurzer Überblick über die Themen. Jedes Thema ~5 Minuten einplanen.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Erkläre, wer welche Rolle übernommen hat. Begründe die Rollenverteilung. Gehe auf die praktischen Herausforderungen ein (kleine Teamgröße = Doppelrollen).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Betone: In einem 3-4-Personen-Team trägt jeder mehrere Hüte. In einem Unternehmen mit 10+ Personen wären diese Rollen separiert. Das erhöht Qualität, Geschwindigkeit und Spezialisierung.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 die Namen in der Spalte 'Verantwortlich' auf eure echten Teammitglieder an. Betone: Priorisierung nach MoSCoW bedeutet, Must-Haves kommen immer zuerst – Could-Haves nur wenn Zeit bleibt.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Zeige das echte Board-Link. Erkläre wie Tasks erstellt, geschätzt und zugewiesen wurden. Story Points oder T-Shirt-Größen erwähnen.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Für jeden Sprint eine konkrete Erfahrung nennen. Wichtig: Die Maßnahmen wurden auch wirklich im nächsten Sprint umgesetzt. Das zeigt, dass die Retros nicht nur Pro-forma waren.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Erkläre anhand eines konkreten Beispiels aus eurem Projekt. Die Schätzmethode ist nur wertvoll wenn ihr zeigt, wie sie euren Prozess konkret verbessert 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Betone warum Scrum für BrainBuster die richtige Wahl war: Anforderungen änderten sich (z.B. Web-UI wurde erst in Sprint 4 konkreter), Feedback vom Lehrerteam floss direkt ein. Das V-Modell ist stark in sicherheitskritischen Domänen (Medizin, Luftfahrt), aber für unser agiles Schulprojekt zu starr.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Erkläre den fundamentalen Unterschied. Warum ist Transparenz bei Open-Source wichtig? Warum wählen Unternehmen manchmal trotzdem proprietäre Lösungen?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Begründe jede Toolwahl. Warum Python statt Java? Warum GitHub Actions und nicht Jenkins (self-hosted)?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Erkläre konkret: Was passiert, wenn GitHub morgen kostenpflichtig wird? Wie würdet ihr migrieren? Was habt ihr getan, um flexibel zu bleiben?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Optionaler Slide falls Zeit. Beispiel: Bundeswehr-Abkehr von Microsoft, Münchner LiMux-Projekt. Oder Abhängigkeit von US-Cloud-Anbietern (CLOUD Act).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Zusammenfassung der wichtigsten Erkenntnisse. Offen für Fragen. Auf Demo-Material verweisen falls nötig.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7772400" y="-274320"/>
            <a:ext cx="1828800" cy="18288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48640" y="3689013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Leon, Robin, Yannick - it5xyz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BrainBuster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Iterativer SDLC &amp; Open-Source-Analyse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8046720" cy="27432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&amp; Iterative Entwicklung   |   Open-Source vs. Proprietär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56032" y="105156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93192" y="134874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Scrum-Rollen &amp; Beschreibungen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2350008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93192" y="264718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07012" y="262432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Aufgaben, Termine &amp; Verantwortung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3648456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93192" y="3945636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3922776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Planungsboard (Sprint-Übersicht)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0" y="105156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328416" y="134874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58768" y="132588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Retrospektiven-Dokumentation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2350008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337560" y="264718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03904" y="262432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Schätzmethode: Planning Poker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0" y="3648456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337560" y="3945636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813048" y="3945636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Erweiterte Scrum-Rollen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44768" y="105156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281928" y="134874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03136" y="132588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vs. V-Modell vs. Wasserfall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44768" y="2350008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281928" y="264718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03136" y="262432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&amp; Lock-in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44768" y="3648456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6281928" y="3917871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825996" y="3945636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Ausblick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Scrum-Rollen im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517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Priorisiert den Product Backlog, definiert Anforderungen (MoSCoW), kommuniziert mit Stakeholdern (Lehrerteam). Verantwortlich für den Produktwert.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78308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Moderiert Sprint-Events (Planning, Review, Retro), entfernt Hindernisse, sorgt für Einhaltung der Scrum-Regeln und coacht das Team.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126480" y="1188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Entwicklungsteam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78308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Selbstorganisiertes Team, das die Inkremente liefert. Übernimmt Backend, Frontend, Tests, Deployment und Dokumentation kollektiv.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komplexeren Projekten wären zusätzliche Rollen sinnvoll: Architect, QA Lead, DevOps Engineer, UX Designer.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Erweiterte Scrum-Rollen in realen Projekten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84632" y="11887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1499616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Trifft übergreifende technische Entscheidungen (DB-Schema, API-Design, Infrastruktur-Aufbau). In unserem Projekt vom Dev-Team gemeinsam übernommen.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919472" y="11887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 Lead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9472" y="1499616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Verantwortet Testkonzept, automatisierte Tests und Code-Reviews. Ohne dedizierten QA riskiert man lückenhafte Testabdeckung – bei uns verteilt.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84632" y="24871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2798064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Betreibt CI/CD-Pipeline, Deployment, Monitoring &amp; Infrastruktur. In größeren Teams eine eigenständige Spezialisierung.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395728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919472" y="24871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UI Designer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2798064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Gestaltet die Nutzererfahrung. Für BrainBuster (Web-GUI) wäre ein Designer wertvoll gewesen – Oberflächen entstanden iterativ ohne Mockups.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694176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84632" y="378561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/ PO-Vertreter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409651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echten Projekten gibt es oft mehrere Stakeholder (Marketing, Management, Kunden). Unser PO vereinte alle Stimmen.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694176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919472" y="378561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Coach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409651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Unterstützt das Team beim Etablieren agiler Praktiken. In reifen Scrum-Teams wird der Scrum Master oft zum Agile Coach weiterentwickelt.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Aufgaben, Priorisierung &amp; Verantwortlichkeiten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7680960" cy="3931917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Sprint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Aufgabe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Priorität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Termin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Verantwortlich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Sprint 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Projektsetup, DB-Schema, Repo-Struktur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Must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Woche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Gesamt-Team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Sprint 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CI/CD-Pipeline (GitHub Actions) einrichten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Must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Woche 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DevOps / SM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Sprint 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Quiz-Engine (Fragen laden, anzeigen, prüfen)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Must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Woche 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Backend-Dev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Sprint 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Konsolen-UI + Hilfeparameter (h)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Must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Woche 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Backend-Dev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Sprint 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Punktesystem &amp; Timer-Logik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Must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Woche 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Backend-Dev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Sprint 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Unit-Tests (≥3 automatisierte Tests)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Must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Woche 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QA / Alle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Sprint 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Rangliste (End-of-Game &amp; persistent)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Should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Woche 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Backend-Dev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Sprint 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Grafische Oberfläche / Web-UI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Should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Woche 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Frontend-Dev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Sprint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Admin-Backend für Fragenverwaltung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Could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Woche 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Full-Stack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Sprint 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Mehrspielermodus implementieren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Could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Woche 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Backend-Dev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Planungsboard-Link: github.com/[euer-repo]/projects  –  Priorisierung nach MoSCoW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Planungsboard &amp; Sprint-Organisation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3886200"/>
          </a:xfrm>
          <a:prstGeom prst="roundRect">
            <a:avLst>
              <a:gd name="adj" fmla="val 4545"/>
            </a:avLst>
          </a:prstGeom>
          <a:solidFill>
            <a:srgbClr val="CBD5E1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Backlog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84048" y="164592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22199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84048" y="224028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Kategorie-Auswahl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81635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84048" y="283464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Rangliste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41071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84048" y="342900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Admin-Backend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400507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84048" y="402336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Mehrspielermodus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23160" y="1097280"/>
            <a:ext cx="2011680" cy="3886200"/>
          </a:xfrm>
          <a:prstGeom prst="roundRect">
            <a:avLst>
              <a:gd name="adj" fmla="val 4545"/>
            </a:avLst>
          </a:prstGeom>
          <a:solidFill>
            <a:srgbClr val="BAE6FD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2468880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In Progress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162763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2532888" y="164592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Quiz-Engine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14600" y="222199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2532888" y="224028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Punktesystem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14600" y="281635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2532888" y="283464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1097280"/>
            <a:ext cx="2011680" cy="3886200"/>
          </a:xfrm>
          <a:prstGeom prst="roundRect">
            <a:avLst>
              <a:gd name="adj" fmla="val 4545"/>
            </a:avLst>
          </a:prstGeom>
          <a:solidFill>
            <a:srgbClr val="FEF08A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617720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62763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681728" y="164592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Fragen-API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22199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681728" y="224028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Konsolen-UI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20840" y="1097280"/>
            <a:ext cx="2011680" cy="3886200"/>
          </a:xfrm>
          <a:prstGeom prst="roundRect">
            <a:avLst>
              <a:gd name="adj" fmla="val 4545"/>
            </a:avLst>
          </a:prstGeom>
          <a:solidFill>
            <a:srgbClr val="BBF7D0">
              <a:alpha val="6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766560" y="1143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12280" y="162763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830568" y="164592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Projekt-Setup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12280" y="222199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6830568" y="224028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DB-Schema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12280" y="281635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6830568" y="283464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CI-Pipeline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12280" y="341071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6830568" y="342900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12280" y="4005072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6830568" y="402336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Score-Anzeige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Sprint-Länge: 1 Woche   ·   Tool: GitHub Projects / Jira   ·   Priorisierung nach MoSCoW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Retrospektiven – Dokumentation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9319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2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Sprint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👍 Was lief gut?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⚠️ Was lief schlecht?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40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🔧 Maßnahme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Sprint 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Frühe CI-Pipeline spart später Zeit. Klare Aufgabenverteilung beim Kick-off.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DB-Schema musste zweimal überarbeitet werden. Zeitaufwand unterschätzt.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Schemadesign vorab detaillierter besprechen. ER-Diagramm im Wiki ablegen.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Sprint 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Quiz-Engine fertig im Plan. API-Integration schneller als erwartet.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Konsolen-UI ohne Design-Abstimmung – zweimal umgebaut.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UI-Mockup (auch simpel) vor Implementierung zeigen. Stand-up täglich.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Sprint 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Pair-Programming bei Tests half sehr. Punktesystem sauber modular.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Test-Coverage erst am Ende angeschaut – 2 Bugs spät entdeckt.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Test-First bei neuen Features. Coverage-Check in CI-Pipeline ergänzen.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Schätzmethode: Planning Poker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funktioniert 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60934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User-Story wird vorgelesen und kurz erklärt.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3230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6576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414016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Teammitglied wählt verdeckt eine Fibonacci-Karte (1, 2, 3, 5, 8, 13 …).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3697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6576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3218688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decken gleichzeitig auf. Bei Abweichungen: Diskussion, danach neues Voting.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04164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65760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402336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Konsens = Story-Point-Schätzung wird im Backlog vermerkt.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170432"/>
            <a:ext cx="868680" cy="1051560"/>
          </a:xfrm>
          <a:prstGeom prst="roundRect">
            <a:avLst>
              <a:gd name="adj" fmla="val 9474"/>
            </a:avLst>
          </a:prstGeom>
          <a:solidFill>
            <a:srgbClr val="BBF7D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709160" y="1170432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733288" y="1170432"/>
            <a:ext cx="868680" cy="1051560"/>
          </a:xfrm>
          <a:prstGeom prst="roundRect">
            <a:avLst>
              <a:gd name="adj" fmla="val 9474"/>
            </a:avLst>
          </a:prstGeom>
          <a:solidFill>
            <a:srgbClr val="BBF7D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733288" y="1170432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757416" y="1170432"/>
            <a:ext cx="868680" cy="1051560"/>
          </a:xfrm>
          <a:prstGeom prst="roundRect">
            <a:avLst>
              <a:gd name="adj" fmla="val 9474"/>
            </a:avLst>
          </a:prstGeom>
          <a:solidFill>
            <a:srgbClr val="BBF7D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757416" y="1170432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7781544" y="1170432"/>
            <a:ext cx="868680" cy="1051560"/>
          </a:xfrm>
          <a:prstGeom prst="roundRect">
            <a:avLst>
              <a:gd name="adj" fmla="val 9474"/>
            </a:avLst>
          </a:prstGeom>
          <a:solidFill>
            <a:srgbClr val="FEF08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781544" y="1170432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5221224" y="2359152"/>
            <a:ext cx="868680" cy="1051560"/>
          </a:xfrm>
          <a:prstGeom prst="roundRect">
            <a:avLst>
              <a:gd name="adj" fmla="val 9474"/>
            </a:avLst>
          </a:prstGeom>
          <a:solidFill>
            <a:srgbClr val="FEF08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221224" y="2359152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6245352" y="2359152"/>
            <a:ext cx="868680" cy="1051560"/>
          </a:xfrm>
          <a:prstGeom prst="roundRect">
            <a:avLst>
              <a:gd name="adj" fmla="val 9474"/>
            </a:avLst>
          </a:prstGeom>
          <a:solidFill>
            <a:srgbClr val="FED7A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6245352" y="2359152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7269480" y="2359152"/>
            <a:ext cx="868680" cy="1051560"/>
          </a:xfrm>
          <a:prstGeom prst="roundRect">
            <a:avLst>
              <a:gd name="adj" fmla="val 9474"/>
            </a:avLst>
          </a:prstGeom>
          <a:solidFill>
            <a:srgbClr val="E2E8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7269480" y="2359152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4572000" y="3566160"/>
            <a:ext cx="4297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709160" y="36301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Zugewinn für unser Team?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09160" y="39959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Ja.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Unterschiedliche Einschätzungen deckten Missverständnisse früh auf.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43708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"Rangliste" wurde von 3 auf 8 Punkte hochgestuft, weil persistente DB-Speicherung nötig ist.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vs. Wasserfallmodell vs. V-Modell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51560"/>
          <a:ext cx="8686800" cy="4023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Kriterium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Scrum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Wasserfallmodell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V-Modell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Vorgehen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Iterativ, inkrementell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Sequenziell, linear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Sequenziell mit Testgegenstücken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Planung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Sprint-weise, anpassbar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Vollständig vorab &amp; starr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Vollständig vorab, sehr detailliert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Anforderungen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Evolvierend (Product Backlog)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Einmalig fixiert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Einmalig fixiert, formal verifiziert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Tests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Kontinuierlich (CI + TDD)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Nur am Ende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Jede Phase hat Testgegenstück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Feedback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Jede Sprint-Review (~1 Woche)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Erst am Projektende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Erst nach Integrations-/Systemtests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Risiko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Früh erkennbar &amp; behebbar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Spät, sehr teuer zu korrigieren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Mittel – Tests sichern Phasen ab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Dokumentation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Leichtgewichtig, bedarfsweise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Umfangreich &amp; vorab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Sehr umfangreich, normiert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Eignung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Komplexe, veränderl. Projekte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Stabile, klare Anforderungen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Safety-kritische Systeme (Luftfahrt)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vs. Proprietäre Software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3794760"/>
          </a:xfrm>
          <a:prstGeom prst="roundRect">
            <a:avLst>
              <a:gd name="adj" fmla="val 2892"/>
            </a:avLst>
          </a:prstGeom>
          <a:solidFill>
            <a:srgbClr val="ECFD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148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Quellcode öffentlich einsehbar &amp; veränderbar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Lizenzen: MIT, GPL, Apache, BSD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Lizenzkosten, Community-Support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Kontrolle über Infrastruktur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Beispiele: Python, GitHub Actions, MySQL, Linux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3794760"/>
          </a:xfrm>
          <a:prstGeom prst="roundRect">
            <a:avLst>
              <a:gd name="adj" fmla="val 2892"/>
            </a:avLst>
          </a:prstGeom>
          <a:solidFill>
            <a:srgbClr val="EEF2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846320" y="1143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Proprietäre Software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Quellcode geschlossen, Anbieter-kontrolliert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Lizenzgebühren, oft Abonnementmodelle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Professioneller Support &amp; SLA garantiert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Eingeschränkte Anpassbarkeit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Beispiele: Microsoft Office, GitHub (Hosting), Jira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pPr algn="r"/>
            <a:r>
              <a:rPr lang="en-US" sz="12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Verwendete Infrastruktur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046720" cy="3886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Kategorie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Lizenz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Lock-in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Python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Open-Source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Sprache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PSF (frei)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Niedrig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MySQL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Open-Source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Datenbank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GPL / Community Ed.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Mittel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GitHub Actions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Proprietär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CI/CD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Freemium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Hoch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GitHub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Proprietär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Code-Hosting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Freemium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Hoch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pytest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Open-Source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Testing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MIT (frei)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Niedrig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opentdb.com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Open-Source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Quiz-API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CC BY-SA 4.0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Mittel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Jira / GitHub Projects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Proprietär/OS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Planung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Freemium / frei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Mittel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Linux/Ubuntu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Open-Source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Server-OS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GPL (frei)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Niedrig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Lock-in-Effekte &amp; Gegenmaßnahmen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ein Lock-in-Effekt?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Abhängigkeit von einem Anbieter, die einen Wechsel kostspielig oder schwierig macht – technisch, finanziell oder organisatorisch.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EF9C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GitHub Actions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CI-Syntax nicht portierbar zu GitLab CI ohne Rewrite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EF9C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02920" y="3273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opentdb.com API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Ausfall der API → Quiz-Start nicht möglich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EF9C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02920" y="4096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GitHub Hosting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343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Repos, Issues, Projects an Microsoft-Ökosystem gebunden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Strategien zur Risikominimierung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16002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892040" y="1627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Portabilität sichern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19202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offene Formate nutzen (z.B. Docker, OpenAPI)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892040" y="2496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Lokale Fallbacks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27889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Fragendatenbank als Backup zur externen API anlegen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33756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892040" y="3364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Multi-Cloud / Alternativen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36576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als Alternative zu GitHub evaluieren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42062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892040" y="4233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Bewusste Toolwahl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92040" y="45262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Regelmäßige Überprüfung der Tool-Abhängigkeiten dokumentieren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Proprietäre Software &amp; gesellschaftliche Verantwortung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1E3A5F"/>
          </a:solidFill>
          <a:ln/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Unternehmen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4231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Open-Source-Alternativen evaluieren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Abhängigkeiten dokumentieren &amp; auditieren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Infrastruktur wo möglich selbst betreiben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164E63"/>
          </a:solidFill>
          <a:ln/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91840" y="1143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Staat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783080"/>
            <a:ext cx="24231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Behörden auf Open-Source verpflichten (z.B. Sovereign Tech Fund DE)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Bildungseinrichtungen: FOSS-First-Policy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Souveränität als politisches Ziel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2E1065"/>
          </a:solidFill>
          <a:ln/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080760" y="1143000"/>
            <a:ext cx="26517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172200" y="1143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Privatpersonen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24231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Datenschutz-bewusst wählen (Signal, Linux, Firefox)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Kompetenz aufbauen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Community-Projekte unterstützen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Sovereign Tech Fund, Free Software Foundation Europe (FSFE)</a:t>
            </a:r>
            <a:endParaRPr lang="en-US" sz="9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F709E70-3B65-57E2-9574-C40957D0DD85}"/>
              </a:ext>
            </a:extLst>
          </p:cNvPr>
          <p:cNvSpPr txBox="1"/>
          <p:nvPr/>
        </p:nvSpPr>
        <p:spPr>
          <a:xfrm>
            <a:off x="4526280" y="1928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Fazit &amp; Ausblick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0F2A3F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170432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ermöglichte kontinuierliches Feedback &amp; anpassungsfähige Entwicklung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0F2A3F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85800" y="20848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2084832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Open-Source-Stack reduziert Kosten und erhöht die Transparenz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0F2A3F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85800" y="29992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34440" y="2999232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Lock-in-Risiken erkannt – Gegenmaßnahmen dokumentiert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0C1F2E"/>
          </a:solidFill>
          <a:ln/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85800" y="39136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3913632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Schritte: Multiplayer, eigenes Admin-Backend, Deployment auf Cloud-Server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für Ihre Aufmerksamkeit – Fragen?</a:t>
            </a:r>
            <a:endParaRPr lang="en-US" sz="14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BBD8A3D-D92A-1043-E2CA-06B7FEB09340}"/>
              </a:ext>
            </a:extLst>
          </p:cNvPr>
          <p:cNvSpPr txBox="1"/>
          <p:nvPr/>
        </p:nvSpPr>
        <p:spPr>
          <a:xfrm>
            <a:off x="4021494" y="-29218"/>
            <a:ext cx="51287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5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Quellenverzeichnis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023360" cy="3977640"/>
          </a:xfrm>
          <a:prstGeom prst="roundRect">
            <a:avLst>
              <a:gd name="adj" fmla="val 229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420624"/>
          </a:xfrm>
          <a:prstGeom prst="roundRect">
            <a:avLst>
              <a:gd name="adj" fmla="val 2173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3 – Scrum &amp; Iterative Entwicklung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7824" y="14630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 &amp; Sutherland (2020).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77824" y="171907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Guide.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192024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scrumguides.org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" y="21214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Cohn, M. (2005).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" y="237744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Estimating and Planning.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77824" y="25786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Prentice Hall. (Planning Poker)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77977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" y="27797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Royce, W. (1970).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" y="303580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Development of Large Software Systems.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77824" y="323697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WESCON. (Wasserfallmodell)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43814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7824" y="34381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Bundesministerium des Innern (2012).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824" y="369417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V-Modell XT.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7824" y="389534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v-modell-xt.de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0965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" y="40965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Beck, K. et al. (2001).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7824" y="435254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Manifesto for Agile Software Development.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77824" y="455371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agilemanifesto.org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4572000" y="914400"/>
            <a:ext cx="4160520" cy="420624"/>
          </a:xfrm>
          <a:prstGeom prst="roundRect">
            <a:avLst>
              <a:gd name="adj" fmla="val 21739"/>
            </a:avLst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4572000" y="914400"/>
            <a:ext cx="4160520" cy="420624"/>
          </a:xfrm>
          <a:prstGeom prst="roundRect">
            <a:avLst>
              <a:gd name="adj" fmla="val 21739"/>
            </a:avLst>
          </a:prstGeom>
          <a:solidFill>
            <a:srgbClr val="233D5E"/>
          </a:solidFill>
          <a:ln w="12700">
            <a:solidFill>
              <a:srgbClr val="233D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663440" y="93268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4 – Open-Source vs. Proprietär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81728" y="14630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14630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Software Foundation (2024).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Free Software?  gnu.org/philosophy/free-sw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81728" y="202996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20299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FSFE (2024).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Money? Public Code!  publiccode.eu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81728" y="259689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2596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Computerwoche (2022).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Sie IT-Abhängigkeiten managen.  computerwoche.de  (Lehrquelle)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81728" y="316382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31638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Trivia DB (2024).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use, user-contributed trivia.  opentdb.com  (CC BY-SA 4.0)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81728" y="37307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37307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Tech Fund (2024).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3968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in open digital infrastructure.  sovereigntechfund.de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81728" y="42976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20640" y="42976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Docs (2024).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20640" y="4535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GitHub Actions.  docs.github.com/actions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004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URLs zuletzt abgerufen: Mai 2025  ·  Leon · Robin · Yannick  ·  Klasse IT22B  ·  Berufsschule Hamburg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1807</Words>
  <Application>Microsoft Office PowerPoint</Application>
  <PresentationFormat>Bildschirmpräsentation (16:9)</PresentationFormat>
  <Paragraphs>380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BrainBuster – Fachgespräch</dc:title>
  <dc:subject>PptxGenJS Presentation</dc:subject>
  <dc:creator>BrainBuster Team</dc:creator>
  <cp:lastModifiedBy>Robin Cheah</cp:lastModifiedBy>
  <cp:revision>3</cp:revision>
  <dcterms:created xsi:type="dcterms:W3CDTF">2026-06-09T08:53:03Z</dcterms:created>
  <dcterms:modified xsi:type="dcterms:W3CDTF">2026-06-10T06:50:18Z</dcterms:modified>
</cp:coreProperties>
</file>